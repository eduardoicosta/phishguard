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Caixa do mês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AEB9C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-1852</c:v>
                </c:pt>
                <c:pt idx="1">
                  <c:v>-2113</c:v>
                </c:pt>
                <c:pt idx="2">
                  <c:v>-1093</c:v>
                </c:pt>
                <c:pt idx="3">
                  <c:v>428</c:v>
                </c:pt>
                <c:pt idx="4">
                  <c:v>2330</c:v>
                </c:pt>
                <c:pt idx="5">
                  <c:v>3770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Caixa acumulado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AEB9C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-1852</c:v>
                </c:pt>
                <c:pt idx="1">
                  <c:v>-3965</c:v>
                </c:pt>
                <c:pt idx="2">
                  <c:v>-5058</c:v>
                </c:pt>
                <c:pt idx="3">
                  <c:v>-4630</c:v>
                </c:pt>
                <c:pt idx="4">
                  <c:v>-2300</c:v>
                </c:pt>
                <c:pt idx="5">
                  <c:v>1470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AEB9C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2B42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EB9C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F2B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F2B4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8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AEB9C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tese do produto: proteção contra phishing com privacidade estrutural — o conteúdo do e-mail nunca é armazenado. Dupla checagem: motor estatístico local + IA Gemini. Time Startup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1: o que foi implementado desde a Fase 4. O salto foi arquitetural — arquitetura de privacidade Retenção Zero, separação de produtos B2B/B2C, painéis, resiliência de rede, extensão endurecida e testes de conformidade. Volume: ~5,7 mil linhas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2 — Go-to-Market Canvas, tudo derivado do produto real. Modelo dual: aquisição B2C de baixo custo pelas lojas de extensão e conteúdo; B2B por outbound e parcerias. Preço freemium reduz fricção; a IA fica no plano pago.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2 — indicadores financeiros. Margem de contribuição muito alta (software puro): 88% no Personal, 96% no assento B2B. Breakeven recorrente com ~185 assinantes, alcançado no Mês 3. LTV/CAC saudável nos dois segmentos, payback abaixo de 2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2 — fluxo de caixa de 6 meses. O investimento inicial necessário é pequeno (~R$ 5 mil), compatível com um aporte de fundadores ou apoio de incubadora. A operação recorrente cobre o custo fixo já no terceiro mês; o gasto com aquisição é o que segura o caixa no vermelho até o Mês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3 — estado do protótipo por camada. Tudo funciona ponta a ponta: extensão lê o e-mail, backend anonimiza e classifica em duas camadas, painéis mostram a telemetria agregada. Pendências: publicação nas lojas, automação de backup e hardening de deploy. Links de GitHub e vídeo nos campos do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" y="4937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PHISHGUARD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SECaaS  ·  ANTI-PHISHING MULTICANAL  ·  LGPD BY DESIGN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7223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contra phishing que </a:t>
            </a:r>
            <a:pPr algn="l"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guarda</a:t>
            </a:r>
            <a:pPr algn="l"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que você escreve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34340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checagem — motor estatístico local + IA Gemini — dentro do próprio Gmail e Outlook, WhatsApp e webchat. Arquitetura de Retenção Zero e anonimização antes da IA.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5806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One</a:t>
            </a:r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Sistemas de Informação — FIAP 2026</a:t>
            </a:r>
            <a:pPr algn="l" indent="0" marL="0">
              <a:lnSpc>
                <a:spcPts val="1600"/>
              </a:lnSpc>
              <a:buNone/>
            </a:pP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Dias da Silva Biancchi   ·   Eduardo Costa Nascimento dos Anjos   ·   Enzo Puerta Meschini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55280" y="1965960"/>
            <a:ext cx="3639312" cy="3566160"/>
          </a:xfrm>
          <a:prstGeom prst="roundRect">
            <a:avLst>
              <a:gd name="adj" fmla="val 2564"/>
            </a:avLst>
          </a:prstGeom>
          <a:solidFill>
            <a:srgbClr val="182338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11312" y="219456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mascaramento_pii.py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11312" y="265176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ORIGINAL  ·  nunca sai do processo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11312" y="2889504"/>
            <a:ext cx="3127248" cy="868680"/>
          </a:xfrm>
          <a:prstGeom prst="roundRect">
            <a:avLst>
              <a:gd name="adj" fmla="val 5263"/>
            </a:avLst>
          </a:prstGeom>
          <a:solidFill>
            <a:srgbClr val="2A1620"/>
          </a:solidFill>
          <a:ln w="12700">
            <a:solidFill>
              <a:srgbClr val="5B27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9328" y="2962656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"Confirme seu CPF 111.444.777-35 e a senha Abc12345 para o saque."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395020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À IA  ·  Camada 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11312" y="4187952"/>
            <a:ext cx="3127248" cy="868680"/>
          </a:xfrm>
          <a:prstGeom prst="roundRect">
            <a:avLst>
              <a:gd name="adj" fmla="val 5263"/>
            </a:avLst>
          </a:prstGeom>
          <a:solidFill>
            <a:srgbClr val="0E2A22"/>
          </a:solidFill>
          <a:ln w="12700">
            <a:solidFill>
              <a:srgbClr val="1C51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9328" y="4261104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"Confirme seu CPF [CPF_MASCARADO] e a senha [CREDENCIAL_MASCARADA] para o saque."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11312" y="51206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domínio do remetente é preservado de propósito — é o que detecta o spoofing.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VERSÃO ATUAL DO PROJETO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500055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6B7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96012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MVP acadêmico a arquitetura de produto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3496970" cy="1965960"/>
          </a:xfrm>
          <a:prstGeom prst="roundRect">
            <a:avLst>
              <a:gd name="adj" fmla="val 3721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148840"/>
            <a:ext cx="30946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Zero (LGPD by design)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496312"/>
            <a:ext cx="309463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com 13 regras validadas (Luhn, dígitos de CPF/CNPJ) e pseudonimização HMAC-SHA256. privacidade.py + persistencia.py, o único módulo que escreve no banco.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7362" y="1965960"/>
            <a:ext cx="3496970" cy="1965960"/>
          </a:xfrm>
          <a:prstGeom prst="roundRect">
            <a:avLst>
              <a:gd name="adj" fmla="val 3721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8530" y="2148840"/>
            <a:ext cx="30946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Bifurcação B2B / B2C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48530" y="2496312"/>
            <a:ext cx="309463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só motor de detecção: métricas pessoais isoladas por conta (B2C) × governança corporativa por pseudônimo criptográfico (B2B).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0365" y="1965960"/>
            <a:ext cx="3496970" cy="1965960"/>
          </a:xfrm>
          <a:prstGeom prst="roundRect">
            <a:avLst>
              <a:gd name="adj" fmla="val 3721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1533" y="2148840"/>
            <a:ext cx="30946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novos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301533" y="2496312"/>
            <a:ext cx="309463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Personal (novo) e Painel SOC reformulado: ranking de domínios hostis, exposição por colaborador e trilha de auditoria anonimizada.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4206240"/>
            <a:ext cx="3496970" cy="1965960"/>
          </a:xfrm>
          <a:prstGeom prst="roundRect">
            <a:avLst>
              <a:gd name="adj" fmla="val 3721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4389120"/>
            <a:ext cx="30946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resiliência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4736592"/>
            <a:ext cx="309463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resiliencia.py: timeout rígido, retry com backoff/jitter e circuit breaker por canal, com fallback automático para o motor local.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7362" y="4206240"/>
            <a:ext cx="3496970" cy="1965960"/>
          </a:xfrm>
          <a:prstGeom prst="roundRect">
            <a:avLst>
              <a:gd name="adj" fmla="val 3721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48530" y="4389120"/>
            <a:ext cx="30946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MV3 endurecida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48530" y="4736592"/>
            <a:ext cx="309463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como proxy de rede (contorna o Private Network Access do Chrome); popup com abas Proteção / Privacidade / Conta.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00365" y="4206240"/>
            <a:ext cx="3496970" cy="1965960"/>
          </a:xfrm>
          <a:prstGeom prst="roundRect">
            <a:avLst>
              <a:gd name="adj" fmla="val 3721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01533" y="4389120"/>
            <a:ext cx="30946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como código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301533" y="4736592"/>
            <a:ext cx="309463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asserções automatizadas + endpoints de manifesto público, autoauditoria em runtime e direito de eliminação (Art. 18 da LGPD).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3550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+5.761 / −848 linhas · 18 arquivos alterados desde a Fase 4 (commit a33ef43).  Em finalização: correção do remetente no Outlook Web e ajuste de layout dos painéis.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ESTRATÉGIA DE MERCADO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500055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6B7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96012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Go-to-Market: dois segmentos, um motor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3496970" cy="2194560"/>
          </a:xfrm>
          <a:prstGeom prst="roundRect">
            <a:avLst>
              <a:gd name="adj" fmla="val 3333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084832"/>
            <a:ext cx="30946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de clientes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414016"/>
            <a:ext cx="30946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B2C: usuários de Gmail/Outlook expostos a golpes de Pix, boleto e falso suporte — famílias, autônomos e MEI.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B2B: PMEs de 10–200 pessoas sem SOC próprio (contabilidade, saúde, jurídico, e-commerce).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7362" y="1920240"/>
            <a:ext cx="3496970" cy="2194560"/>
          </a:xfrm>
          <a:prstGeom prst="roundRect">
            <a:avLst>
              <a:gd name="adj" fmla="val 3333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8530" y="2084832"/>
            <a:ext cx="30946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48530" y="2414016"/>
            <a:ext cx="30946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phishing em tempo real dentro do e-mail atual, sem trocar de provedor. Privacidade estrutural (Retenção Zero + anonimização antes da IA), LGPD nativa. Opera mesmo com a IA fora do ar.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00365" y="1920240"/>
            <a:ext cx="3496970" cy="2194560"/>
          </a:xfrm>
          <a:prstGeom prst="roundRect">
            <a:avLst>
              <a:gd name="adj" fmla="val 3333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1533" y="2084832"/>
            <a:ext cx="30946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de aquisição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01533" y="2414016"/>
            <a:ext cx="30946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B2C: Chrome / Edge Store (ASO), conteúdo sobre golpes reais, criadores de finanças, indicação in-product.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B2B: outbound no LinkedIn, webinars de LGPD, marketplace Azure, parceria com contadores.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4389120"/>
            <a:ext cx="3496970" cy="2194560"/>
          </a:xfrm>
          <a:prstGeom prst="roundRect">
            <a:avLst>
              <a:gd name="adj" fmla="val 3333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4553712"/>
            <a:ext cx="30946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&amp; promoção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4882896"/>
            <a:ext cx="30946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Freemium: Camada 1 grátis, IA no plano pago. Personal R$ 9,90/mês · Enterprise R$ 15–25/assento (anual com desconto). 1º mês grátis (B2C), trial de 14 dias (B2B), selo Retenção Zero.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47362" y="4389120"/>
            <a:ext cx="3496970" cy="2194560"/>
          </a:xfrm>
          <a:prstGeom prst="roundRect">
            <a:avLst>
              <a:gd name="adj" fmla="val 3333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48530" y="4553712"/>
            <a:ext cx="30946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Métricas-chave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48530" y="4882896"/>
            <a:ext cx="30946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e-mails analisados por semana por usuário ativo. Ativação &gt; 60%, conversão free→pago 4–6%, ameaças bloqueadas / mil análises, churn &lt; 5% B2C · &lt; 2% B2B.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00365" y="4389120"/>
            <a:ext cx="3496970" cy="2194560"/>
          </a:xfrm>
          <a:prstGeom prst="roundRect">
            <a:avLst>
              <a:gd name="adj" fmla="val 3333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01533" y="4553712"/>
            <a:ext cx="30946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defensável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01533" y="4882896"/>
            <a:ext cx="30946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auditável como código (não como cláusula), dataset de phishing PT-BR próprio e experiência in-webmail sem agente de sistema operacional.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VIABILIDADE FINANCEIRA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500055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6B7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96012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de contribuição alta, custo fixo enxuto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2586152" cy="1600200"/>
          </a:xfrm>
          <a:prstGeom prst="roundRect">
            <a:avLst>
              <a:gd name="adj" fmla="val 4571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48256"/>
            <a:ext cx="2220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R$ 1,6 mil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24912"/>
            <a:ext cx="2220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fixo mensal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920240"/>
            <a:ext cx="2586152" cy="1600200"/>
          </a:xfrm>
          <a:prstGeom prst="roundRect">
            <a:avLst>
              <a:gd name="adj" fmla="val 4571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2848" y="2048256"/>
            <a:ext cx="2220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R$ 8,70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582848" y="2724912"/>
            <a:ext cx="2220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contrib. · Personal  (88%)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05576" y="1920240"/>
            <a:ext cx="2586152" cy="1600200"/>
          </a:xfrm>
          <a:prstGeom prst="roundRect">
            <a:avLst>
              <a:gd name="adj" fmla="val 4571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8456" y="2048256"/>
            <a:ext cx="2220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R$ 24,00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88456" y="2724912"/>
            <a:ext cx="2220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contrib. · assento B2B  (96%)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11183" y="1920240"/>
            <a:ext cx="2586152" cy="1600200"/>
          </a:xfrm>
          <a:prstGeom prst="roundRect">
            <a:avLst>
              <a:gd name="adj" fmla="val 4571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94063" y="2048256"/>
            <a:ext cx="2220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94063" y="2724912"/>
            <a:ext cx="2220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Assinantes p/ breakeven recorrente (Mês 3)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749040"/>
            <a:ext cx="3521354" cy="1371600"/>
          </a:xfrm>
          <a:prstGeom prst="roundRect">
            <a:avLst>
              <a:gd name="adj" fmla="val 5333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877056"/>
            <a:ext cx="3119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242816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 R$ 15     ·     B2B  R$ 900 / conta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35170" y="3749040"/>
            <a:ext cx="3521354" cy="1371600"/>
          </a:xfrm>
          <a:prstGeom prst="roundRect">
            <a:avLst>
              <a:gd name="adj" fmla="val 5333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36338" y="3877056"/>
            <a:ext cx="3119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36338" y="4242816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 R$ 174  (20 meses)     ·     B2B  ≈ R$ 24 mil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75981" y="3749040"/>
            <a:ext cx="3521354" cy="1371600"/>
          </a:xfrm>
          <a:prstGeom prst="roundRect">
            <a:avLst>
              <a:gd name="adj" fmla="val 5333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7149" y="3877056"/>
            <a:ext cx="31190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 ·  payback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77149" y="4242816"/>
            <a:ext cx="31190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11,6x B2C   ·   ~27x B2B   ·   &lt; 2 meses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394960"/>
            <a:ext cx="11002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receita: assinatura recorrente (MRR).  Custo fixo/mês = cloud (API + Azure PostgreSQL) R$ 900 · ferramentas e licenças R$ 300 · contabilidade e regularização R$ 400.  Custo variável Personal R$ 1,20/usuário (Gemini R$ 0,70 + infra R$ 0,30 + gateway R$ 0,20); assento B2B ≈ R$ 1,00.  Fundadores em equity no período inicial.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PROJEÇÃO DE FLUXO DE CAIXA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500055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6B7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96012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acumulado positivo no Mês 6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65960"/>
          <a:ext cx="544068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868680"/>
                <a:gridCol w="566928"/>
                <a:gridCol w="896112"/>
                <a:gridCol w="841248"/>
                <a:gridCol w="841248"/>
                <a:gridCol w="85953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6B7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6B7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6B7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6B7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6B7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6B7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6B78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mês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−1.852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EB9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+3.770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43434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Assinantes ao fim de cada mês · valores em R$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754880"/>
            <a:ext cx="5440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buSzPct val="100000"/>
              <a:buChar char="•"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de caixa no Mês 3 ≈ −R$ 5,1 mil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capital máximo a aportar (fundadores / incubadora FIAP).</a:t>
            </a:r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recorrente (receita − custos) já cobre o custo fixo no Mês 3.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do mês positivo no Mês 4; caixa acumulado positivo no Mês 6 (+R$ 1.470).</a:t>
            </a:r>
            <a:endParaRPr lang="en-US" sz="10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355080" y="1874520"/>
          <a:ext cx="5257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601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PROTÓTIPO DE ALTA FIDELIDADE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500055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6B7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960120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funcional ponta a ponta — ~90% concluído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pPr indent="0" marL="0">
              <a:lnSpc>
                <a:spcPts val="1200"/>
              </a:lnSpc>
              <a:buNone/>
            </a:pPr>
            <a:endParaRPr lang="en-US" sz="13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+ webchat · Painel Personal · Painel SOC · popup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249424"/>
            <a:ext cx="6675120" cy="237744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249424"/>
            <a:ext cx="6675120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12680" y="2103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88950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</a:t>
            </a:r>
            <a:pPr indent="0" marL="0">
              <a:lnSpc>
                <a:spcPts val="1200"/>
              </a:lnSpc>
              <a:buNone/>
            </a:pPr>
            <a:endParaRPr lang="en-US" sz="13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· Chrome + Edge · Gmail + Outlook Web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3035808"/>
            <a:ext cx="6675120" cy="237744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3035808"/>
            <a:ext cx="6341364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12680" y="28895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6758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pPr indent="0" marL="0">
              <a:lnSpc>
                <a:spcPts val="1200"/>
              </a:lnSpc>
              <a:buNone/>
            </a:pPr>
            <a:endParaRPr lang="en-US" sz="13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async · Camada 1 (RF + XGBoost) · Camada 2 (Gemini)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3822192"/>
            <a:ext cx="6675120" cy="237744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3822192"/>
            <a:ext cx="6007608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12680" y="367588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4622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ML</a:t>
            </a:r>
            <a:pPr indent="0" marL="0">
              <a:lnSpc>
                <a:spcPts val="1200"/>
              </a:lnSpc>
              <a:buNone/>
            </a:pPr>
            <a:endParaRPr lang="en-US" sz="13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treinados em dataset PT-BR próprio · dupla checagem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4608576"/>
            <a:ext cx="6675120" cy="237744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4608576"/>
            <a:ext cx="6007608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12680" y="44622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524865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em nuvem</a:t>
            </a:r>
            <a:pPr indent="0" marL="0">
              <a:lnSpc>
                <a:spcPts val="1200"/>
              </a:lnSpc>
              <a:buNone/>
            </a:pPr>
            <a:endParaRPr lang="en-US" sz="13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PostgreSQL · schema idempotente · só metadados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0" y="5394960"/>
            <a:ext cx="6675120" cy="237744"/>
          </a:xfrm>
          <a:prstGeom prst="roundRect">
            <a:avLst>
              <a:gd name="adj" fmla="val 50000"/>
            </a:avLst>
          </a:prstGeom>
          <a:solidFill>
            <a:srgbClr val="182338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5394960"/>
            <a:ext cx="5673852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12680" y="524865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5943600"/>
            <a:ext cx="11002975" cy="658368"/>
          </a:xfrm>
          <a:prstGeom prst="roundRect">
            <a:avLst>
              <a:gd name="adj" fmla="val 11111"/>
            </a:avLst>
          </a:prstGeom>
          <a:solidFill>
            <a:srgbClr val="131C30"/>
          </a:solidFill>
          <a:ln w="12700">
            <a:solidFill>
              <a:srgbClr val="1F2B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" y="5943600"/>
            <a:ext cx="104909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 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github.com/eduardoicosta/PhishGuard</a:t>
            </a:r>
            <a:pPr indent="0" marL="0">
              <a:buNone/>
            </a:pPr>
            <a:r>
              <a:rPr lang="en-US" sz="115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Vídeo   </a:t>
            </a:r>
            <a:pPr indent="0" marL="0">
              <a:buNone/>
            </a:pPr>
            <a:r>
              <a:rPr lang="en-US" sz="1150" i="1" dirty="0">
                <a:solidFill>
                  <a:srgbClr val="F8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novo link no campo do template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2026-09-02T21:30:46Z</dcterms:created>
  <dcterms:modified xsi:type="dcterms:W3CDTF">2026-09-02T21:30:46Z</dcterms:modified>
</cp:coreProperties>
</file>